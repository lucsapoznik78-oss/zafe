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72" r:id="rId4"/>
    <p:sldId id="276" r:id="rId5"/>
    <p:sldId id="270" r:id="rId6"/>
    <p:sldId id="269" r:id="rId7"/>
    <p:sldId id="268" r:id="rId8"/>
    <p:sldId id="262" r:id="rId9"/>
    <p:sldId id="263" r:id="rId10"/>
    <p:sldId id="275" r:id="rId11"/>
    <p:sldId id="265" r:id="rId12"/>
    <p:sldId id="266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60"/>
    <p:restoredTop sz="94668"/>
  </p:normalViewPr>
  <p:slideViewPr>
    <p:cSldViewPr snapToGrid="0" snapToObjects="1">
      <p:cViewPr varScale="1">
        <p:scale>
          <a:sx n="96" d="100"/>
          <a:sy n="96" d="100"/>
        </p:scale>
        <p:origin x="192" y="3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32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Zafe</a:t>
            </a:r>
            <a:r>
              <a:rPr dirty="0"/>
              <a:t>: </a:t>
            </a:r>
            <a:r>
              <a:rPr dirty="0" err="1"/>
              <a:t>liga</a:t>
            </a:r>
            <a:r>
              <a:rPr dirty="0"/>
              <a:t> de </a:t>
            </a:r>
            <a:r>
              <a:rPr dirty="0" err="1"/>
              <a:t>previsões</a:t>
            </a:r>
            <a:r>
              <a:rPr dirty="0"/>
              <a:t> (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aposta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cassino). Três </a:t>
            </a:r>
            <a:r>
              <a:rPr dirty="0" err="1"/>
              <a:t>pilares</a:t>
            </a:r>
            <a:r>
              <a:rPr dirty="0"/>
              <a:t>: </a:t>
            </a:r>
            <a:r>
              <a:rPr dirty="0" err="1"/>
              <a:t>Econômico</a:t>
            </a:r>
            <a:r>
              <a:rPr dirty="0"/>
              <a:t>, Liga, Privadas. Moeda virtual: </a:t>
            </a:r>
            <a:r>
              <a:rPr dirty="0" err="1"/>
              <a:t>Zafes</a:t>
            </a:r>
            <a:r>
              <a:rPr dirty="0"/>
              <a:t>. </a:t>
            </a:r>
            <a:r>
              <a:rPr dirty="0" err="1"/>
              <a:t>Prêmios</a:t>
            </a:r>
            <a:r>
              <a:rPr dirty="0"/>
              <a:t> reais via PIX no concurso. </a:t>
            </a:r>
            <a:r>
              <a:rPr dirty="0" err="1"/>
              <a:t>Apresentação</a:t>
            </a:r>
            <a:r>
              <a:rPr dirty="0"/>
              <a:t>: Luc Sapoznik e Lorenzo Fragali.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Quem somos: plataforma de competição de previsões (100% legal). Não somos casa de apostas, não operamos com dinheiro real. Moeda virtual: Zafes. Prêmios reais via PIX no concurso (Lei 5.768/71). Diferencial: habilidade, não sorte.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Estado atual: maio/2026, usando Zafes como moeda virtual. Sistema 4 camadas: 87% sucesso na resolução automática. Objetivo: 1.000 usuários ativos na fase beta. Com 1000 usuários: migramos para lançamento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Problema: brasileiro proibido de prever eventos (CMN 5.298/2026). Casas de aposta exploram dependência. Solução: Zafe como concurso legal. Sem dinheiro real, foco em habilidade e curadoria via IA (Premium).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Econômico: palpites sobre indicadores econômicos (Z$ virtual). Apenas admin cria eventos (Selic, IPCA, Dólar, Bitcoin, Ibovespa). Mercado secundário com order book FIFO. Lei 5.768/71.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Liga: carro-chefe da Zafe (esporte, política, BBB, Oscar, tecnologia). Usuários criam eventos (aprovação admin). Moeda: Z$ virtual. Ranking por Brier Score, mínimo 30 previsões/mês, 3 categorias. Banner do concurso com inscrição grátis.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Concurso: R$ 2.500 via PIX (Lei 5.768/71). Brier Score: maior acurácia agregada, mínimo 3 categorias. Base legal: Dispensa SECAP (patrocínio cobre prêmios). Concurso Major: R$ 10k-25k (exige SECAP, 10% patrocinador).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Privadas: bolão entre amigos (4 travas legais obrigatórias). Mercado fechado, sem revenda, limite 5.000 Z$/ano por par. Futuro: converter Z$ em descontos reais via parcerias. Sistema de Juízes: divergência na supermaioria (67%).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Sistema de 4 camadas: APIs fixas, IA com dupla verificação, retry automático, reembolso. Taxa: 87% resolução automática, 5% reembolso (eventos subjetivos). APIs: Banco Central, Yahoo Finance, CoinGecko, TSE. IA: 2 checks independentes, confiança ≥85%.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Concurso: R$ 2.500 via PIX (Lei 5.768/71). Brier Score: maior acurácia agregada, mínimo 3 categorias. Base legal: Dispensa SECAP (patrocínio cobre prêmios). Concurso Major: R$ 10k-25k (exige SECAP, 10% patrocinador).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Curto prazo (1-3 meses): Criar CNPJ, comprar domínio zafe.com.br. Email corporativo @zafe.com.br, conta bancária PJ. Marketing: redes sociais, ads 18-35 anos. Rebrand para Zafe, meta 1.000 usuários, app PWA.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Médio prazo: Zafe Premium R$ 19,90/mês, concurso trimestral R$ 25k. Longo prazo: Zafes viram moeda de fidelidade, conversão em descontos. Visão: liderança nacional, 100k+ usuários. Venda de dados B2B (sabedoria das multidões).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Fechamento: Zafe é a liga de previsões do Brasil (100% legal). Lei 5.768/71 + CMN 5.298: sem apostas, sem depósitos reais. Prêmios reais via PIX no concurso, 4 camadas de resolução. Obrigado pela atenção. zafe-rho.vercel.app → zafe.com.br.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86EFAC"/>
                </a:solidFill>
              </a:defRPr>
            </a:pPr>
            <a:r>
              <a:t>ZAFE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A Liga de Previsões do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C8C8"/>
                </a:solidFill>
              </a:defRPr>
            </a:pPr>
            <a:r>
              <a:t>FEITO POR LUC SAPOZNIK E LORENZO FRAGALI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t>Quem Somos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A Zafe é a plataforma onde você compete prevendo o que vai acontecer no Brasil e no mundo.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O que somos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100% Legal (Lei 5.768/71 + CMN 5.298)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Sem apostas, sem depósitos de dinheiro real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Competição de habilidade preditiva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Moeda virtual: Z$ (sem valor monetário real)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Prêmios reais via PIX no concurso mensal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</a:defRPr>
            </a:pPr>
            <a:r>
              <a:t>O que NÃO somos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1089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Não somos casa de apostas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Não somos mercado preditivo (Polymarket)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Não operamos com dinheiro real (exceto prêmios)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Não temos odds ou 'casa' contra o usuário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Não existe depósito ou saque de Reais</a:t>
            </a:r>
          </a:p>
        </p:txBody>
      </p:sp>
    </p:spTree>
    <p:extLst>
      <p:ext uri="{BB962C8B-B14F-4D97-AF65-F5344CB8AC3E}">
        <p14:creationId xmlns:p14="http://schemas.microsoft.com/office/powerpoint/2010/main" val="3400719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t>Estado Atual (Maio/2026)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O que somos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Lançamos utilizando Z$ como moeda virtual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Sistema de resolução em 4 camadas (87% sucesso)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Eventos reais rodando na Liga e Econômico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Objetivo Imediato: Alcançar 1.000 usuários ativos na fase de testes.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O que muda com 1000 usuários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Aumentar volume de palpites na Liga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Validar modelo de competição social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Migrar de beta para lançamento oficial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Concurso mensal com prêmio real R$ 500 via PIX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Atrair patrocinadores corporativos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AC"/>
                </a:solidFill>
              </a:defRPr>
            </a:pPr>
            <a:r>
              <a:t>Zafes: A moeda virtual que gera prêmios reais através de comprovação de habilidade analítica.</a:t>
            </a:r>
          </a:p>
        </p:txBody>
      </p:sp>
    </p:spTree>
    <p:extLst>
      <p:ext uri="{BB962C8B-B14F-4D97-AF65-F5344CB8AC3E}">
        <p14:creationId xmlns:p14="http://schemas.microsoft.com/office/powerpoint/2010/main" val="1984831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t>Por que a Zafe existe?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Brasileiro é proibido de prever eventos esportivos (CMN 5.298/2026)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Casas de aposta exploram dependência química (dopamina)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Usuário perde dinheiro real sem hiberitação analítica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Falta de plataforma nacional de competição de previsões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A Solução Zafe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Posicionamento legal: concurso de previsões (Lei 5.768/71)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Sem dinheiro real em jogo (Zafes virtuais)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Foco em habilidade analítica e calibração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Curadoria de informação (Premium) via 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B04DDE-9E5B-C642-B4F0-5D891B8813A1}"/>
              </a:ext>
            </a:extLst>
          </p:cNvPr>
          <p:cNvSpPr txBox="1"/>
          <p:nvPr/>
        </p:nvSpPr>
        <p:spPr>
          <a:xfrm>
            <a:off x="914400" y="5080000"/>
            <a:ext cx="100584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defRPr sz="2000" b="1">
                <a:solidFill>
                  <a:srgbClr val="86EFAC"/>
                </a:solidFill>
              </a:defRPr>
            </a:pPr>
            <a:r>
              <a:rPr dirty="0" err="1"/>
              <a:t>Oportunidade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: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mercado </a:t>
            </a:r>
            <a:r>
              <a:rPr dirty="0" err="1"/>
              <a:t>preditivo</a:t>
            </a:r>
            <a:r>
              <a:rPr dirty="0"/>
              <a:t> </a:t>
            </a:r>
            <a:r>
              <a:rPr dirty="0" err="1"/>
              <a:t>nem</a:t>
            </a:r>
            <a:r>
              <a:rPr dirty="0"/>
              <a:t> cassino no </a:t>
            </a:r>
            <a:r>
              <a:rPr dirty="0" err="1"/>
              <a:t>Brasil</a:t>
            </a:r>
            <a:r>
              <a:rPr dirty="0"/>
              <a:t>.</a:t>
            </a:r>
          </a:p>
          <a:p>
            <a:pPr algn="ctr">
              <a:defRPr sz="2000" b="1">
                <a:solidFill>
                  <a:srgbClr val="86EFAC"/>
                </a:solidFill>
              </a:defRPr>
            </a:pPr>
            <a:r>
              <a:rPr dirty="0"/>
              <a:t>A </a:t>
            </a:r>
            <a:r>
              <a:rPr dirty="0" err="1"/>
              <a:t>Zafe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a </a:t>
            </a:r>
            <a:r>
              <a:rPr dirty="0" err="1"/>
              <a:t>primeira</a:t>
            </a:r>
            <a:r>
              <a:rPr dirty="0"/>
              <a:t> e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empresa</a:t>
            </a:r>
            <a:r>
              <a:rPr dirty="0"/>
              <a:t> do </a:t>
            </a:r>
            <a:r>
              <a:rPr dirty="0" err="1"/>
              <a:t>setor</a:t>
            </a:r>
            <a:r>
              <a:rPr lang="pt-BR" dirty="0"/>
              <a:t>,completamente dentro da lei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5524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t>Zafe Econômico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Indicadores econômicos: IPCA, Selic, PIB e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Como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Criação: Apenas admin/sistema (não usuários)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Moeda: Z$ Virtual (não convertível em dinheiro real)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Eventos: Selic, IPCA, Dólar, Bitcoin, Ibovespa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Mercado Secundário: Order book com matching FIFO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Categorias Permitidas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Macro Brasil: Selic, IPCA, PIB, desemprego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Mercados: Ibovespa, Dólar, Euro, Ouro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Cripto: Bitcoin, Ethereum (janelas curtas)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Indicadores Globais: Fed, BCE, CPI americano</a:t>
            </a:r>
          </a:p>
        </p:txBody>
      </p:sp>
    </p:spTree>
    <p:extLst>
      <p:ext uri="{BB962C8B-B14F-4D97-AF65-F5344CB8AC3E}">
        <p14:creationId xmlns:p14="http://schemas.microsoft.com/office/powerpoint/2010/main" val="2456743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rPr dirty="0" err="1"/>
              <a:t>Zafe</a:t>
            </a:r>
            <a:r>
              <a:rPr dirty="0"/>
              <a:t> Liga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Faça seus palpites e suba no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Como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Criação: Usuários e Admin (aprovação necessária)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Moeda: Z$ Virtual (mesma da Liga e Privadas)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Categorias: Política, Esportes, Cultura, Tecnologia, Entretenimento, Outros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Banner do Concurso Mensal ativo com inscrição grátis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Diferenciais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Ranking por lucro líquido (Z$)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Mínimo 3 palpites resolvidos para aparecer no ranking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Odds dinâmicas (ex: SIM 3.00x / NÃO 1.50x)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Trending Feed: eventos em alta (+Z$ / 2h)</a:t>
            </a:r>
          </a:p>
        </p:txBody>
      </p:sp>
    </p:spTree>
    <p:extLst>
      <p:ext uri="{BB962C8B-B14F-4D97-AF65-F5344CB8AC3E}">
        <p14:creationId xmlns:p14="http://schemas.microsoft.com/office/powerpoint/2010/main" val="4010129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t>Concurso Mensal (Sobreposto à Liga)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Inscrição: Gratuita (fase beta)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Moeda: ZC$ (moeda virtual do concurso, sem valor real)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Critério: Quem terminar o mês com mais ZC$ ganha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Requisito: 30+ palpites no mês para concorrer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Prêmio: R$ 500 totais distribuídos via PIX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EFAC"/>
                </a:solidFill>
              </a:defRPr>
            </a:pPr>
            <a:r>
              <a:t>Distribuição de Prêmios: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C8C8"/>
                </a:solidFill>
              </a:defRPr>
            </a:pPr>
            <a:r>
              <a:t>1º lugar: R$ 200 | 2º lugar: R$ 150 | 3º lugar: R$ 100</a:t>
            </a:r>
          </a:p>
          <a:p>
            <a:pPr algn="l">
              <a:defRPr sz="1400">
                <a:solidFill>
                  <a:srgbClr val="C8C8C8"/>
                </a:solidFill>
              </a:defRPr>
            </a:pPr>
            <a:r>
              <a:t>4º a 5º lugar: R$ 25 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Base Legal (Lei 5.768/71)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Art. 1º: Concurso de previsões exige autorização SECAP apenas se prêmios &gt; 10% do valor arrecadado.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EFAC"/>
                </a:solidFill>
              </a:defRPr>
            </a:pPr>
            <a:r>
              <a:t>Dispensa SECAP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Concurso regular (R$ 500) tem patrocínio que cobre prêmios. Não há arrecadação líquida da Zafe, dispensando autorização.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54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AB308"/>
                </a:solidFill>
              </a:defRPr>
            </a:pPr>
            <a:r>
              <a:t>Concurso Major: Trimestral R$ 10k-25k. Exige processo formal na SECAP, custo de 10% pago pelo patrocinador.</a:t>
            </a:r>
          </a:p>
        </p:txBody>
      </p:sp>
    </p:spTree>
    <p:extLst>
      <p:ext uri="{BB962C8B-B14F-4D97-AF65-F5344CB8AC3E}">
        <p14:creationId xmlns:p14="http://schemas.microsoft.com/office/powerpoint/2010/main" val="2845078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t>Zafe Privadas (Bolão entre Amigos)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Criação: Um usuário desafia outro(s) para um palpite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Mercado: Fechado (participantes definidos na criação)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Moeda: Z$ Virtual (não convertível em dinheiro real)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Resolução: Supermaioria 67% + Sistema de Juízes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Futuro: Converter Z$ em descontos reais via parcerias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</a:defRPr>
            </a:pPr>
            <a:r>
              <a:t>4 Travas Legais (Obrigatórias)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1. Apenas amigos confirmados (24h após aceite mútuo)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2. Mercado fechado (sem novos participantes após criação)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3. Sem revenda de posição (sem mercado secundário)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4. Limite: 5.000 Z$/ano por par de usuários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389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AB308"/>
                </a:solidFill>
              </a:defRPr>
            </a:pPr>
            <a:r>
              <a:t>Sistema de Juízes: Se divergência na supermaioria (67%), ativa-se juízes imparciais para decidir.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t>Como o Código Sabe quem Ganhou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EFAC"/>
                </a:solidFill>
              </a:defRPr>
            </a:pPr>
            <a:r>
              <a:t>Camada 1: API Fixa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Banco Central</a:t>
            </a:r>
            <a:br/>
            <a:r>
              <a:t>Yahoo Finance</a:t>
            </a:r>
            <a:br/>
            <a:r>
              <a:t>CoinGecko</a:t>
            </a:r>
            <a:br/>
            <a:r>
              <a:t>TSE, APIs Esportivas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EFAC"/>
                </a:solidFill>
              </a:defRPr>
            </a:pPr>
            <a:r>
              <a:t>Camada 2: IA com Dupla Verificação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 checks independentes</a:t>
            </a:r>
            <a:br/>
            <a:r>
              <a:t>Web Search</a:t>
            </a:r>
            <a:br/>
            <a:r>
              <a:t>Confiança ≥ 85%</a:t>
            </a:r>
            <a:br/>
            <a:r>
              <a:t>Ambos concordam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EFAC"/>
                </a:solidFill>
              </a:defRPr>
            </a:pPr>
            <a:r>
              <a:t>Camada 3: Retry Automático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Falhou?</a:t>
            </a:r>
            <a:br/>
            <a:r>
              <a:t>Tenta novamente</a:t>
            </a:r>
            <a:br/>
            <a:r>
              <a:t>a cada 2h</a:t>
            </a:r>
            <a:br/>
            <a:r>
              <a:t>(máximo 3x)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Camada 4: Reembolso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Ninguém perde</a:t>
            </a:r>
            <a:br/>
            <a:r>
              <a:t>se não resolver</a:t>
            </a:r>
            <a:br/>
            <a:r>
              <a:t>Todos recebem Z$</a:t>
            </a:r>
            <a:br/>
            <a:r>
              <a:t>de volta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AC"/>
                </a:solidFill>
              </a:defRPr>
            </a:pPr>
            <a:r>
              <a:t>Taxa de resolução automática: 87% | Reembolso: 5% (eventos subjetivos sem fontes claras)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t>Plano Futuro: Zafe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Concurso Pago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363257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rPr dirty="0"/>
              <a:t>• Entrada: R$ 10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mês</a:t>
            </a:r>
            <a:r>
              <a:rPr dirty="0"/>
              <a:t> para </a:t>
            </a:r>
            <a:r>
              <a:rPr dirty="0" err="1"/>
              <a:t>participar</a:t>
            </a:r>
            <a:endParaRPr dirty="0"/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Prêmios</a:t>
            </a:r>
            <a:r>
              <a:rPr dirty="0"/>
              <a:t> </a:t>
            </a:r>
            <a:r>
              <a:rPr dirty="0" err="1"/>
              <a:t>significativamente</a:t>
            </a:r>
            <a:r>
              <a:rPr dirty="0"/>
              <a:t> </a:t>
            </a:r>
            <a:r>
              <a:rPr dirty="0" err="1"/>
              <a:t>maiores</a:t>
            </a:r>
            <a:endParaRPr dirty="0"/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dirty="0"/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EFAC"/>
                </a:solidFill>
              </a:defRPr>
            </a:pPr>
            <a:r>
              <a:t>Quando?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C8C8"/>
                </a:solidFill>
              </a:defRPr>
            </a:pPr>
            <a:r>
              <a:rPr sz="1600" dirty="0"/>
              <a:t>Quando </a:t>
            </a:r>
            <a:r>
              <a:rPr sz="1600" dirty="0" err="1"/>
              <a:t>tivermos</a:t>
            </a:r>
            <a:r>
              <a:rPr sz="1600" dirty="0"/>
              <a:t> </a:t>
            </a:r>
            <a:r>
              <a:rPr sz="1600" dirty="0" err="1"/>
              <a:t>uma</a:t>
            </a:r>
            <a:r>
              <a:rPr sz="1600" dirty="0"/>
              <a:t> base grande de </a:t>
            </a:r>
            <a:r>
              <a:rPr sz="1600" dirty="0" err="1"/>
              <a:t>usuários</a:t>
            </a:r>
            <a:r>
              <a:rPr sz="1600" dirty="0"/>
              <a:t> </a:t>
            </a:r>
            <a:r>
              <a:rPr sz="1600" dirty="0" err="1"/>
              <a:t>ativos</a:t>
            </a:r>
            <a:r>
              <a:rPr sz="1600" dirty="0"/>
              <a:t>.</a:t>
            </a:r>
          </a:p>
          <a:p>
            <a:pPr algn="l">
              <a:defRPr sz="1400">
                <a:solidFill>
                  <a:srgbClr val="C8C8C8"/>
                </a:solidFill>
              </a:defRPr>
            </a:pPr>
            <a:r>
              <a:rPr sz="1600" dirty="0"/>
              <a:t>Primeiro </a:t>
            </a:r>
            <a:r>
              <a:rPr sz="1600" dirty="0" err="1"/>
              <a:t>validamos</a:t>
            </a:r>
            <a:r>
              <a:rPr sz="1600" dirty="0"/>
              <a:t> o </a:t>
            </a:r>
            <a:r>
              <a:rPr sz="1600" dirty="0" err="1"/>
              <a:t>modelo</a:t>
            </a:r>
            <a:r>
              <a:rPr sz="1600" dirty="0"/>
              <a:t> </a:t>
            </a:r>
            <a:r>
              <a:rPr sz="1600" dirty="0" err="1"/>
              <a:t>gratuito</a:t>
            </a:r>
            <a:r>
              <a:rPr sz="1600" dirty="0"/>
              <a:t>, </a:t>
            </a:r>
            <a:r>
              <a:rPr sz="1600" dirty="0" err="1"/>
              <a:t>depois</a:t>
            </a:r>
            <a:r>
              <a:rPr sz="1600" dirty="0"/>
              <a:t> </a:t>
            </a:r>
            <a:r>
              <a:rPr sz="1600" dirty="0" err="1"/>
              <a:t>monetizamos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8594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rPr dirty="0" err="1"/>
              <a:t>Zafe</a:t>
            </a:r>
            <a:r>
              <a:rPr dirty="0"/>
              <a:t>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2484" y="2081480"/>
            <a:ext cx="5029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rPr sz="1600" dirty="0" err="1"/>
              <a:t>Assinatura</a:t>
            </a:r>
            <a:r>
              <a:rPr sz="1600" dirty="0"/>
              <a:t> com </a:t>
            </a:r>
            <a:r>
              <a:rPr sz="1600" dirty="0" err="1"/>
              <a:t>benefícios</a:t>
            </a:r>
            <a:r>
              <a:rPr sz="1600" dirty="0"/>
              <a:t> </a:t>
            </a:r>
            <a:r>
              <a:rPr sz="1600" dirty="0" err="1"/>
              <a:t>exclusivos</a:t>
            </a:r>
            <a:r>
              <a:rPr sz="1600" dirty="0"/>
              <a:t> para </a:t>
            </a:r>
            <a:r>
              <a:rPr sz="1600" dirty="0" err="1"/>
              <a:t>preditores</a:t>
            </a:r>
            <a:r>
              <a:rPr sz="1600" dirty="0"/>
              <a:t> </a:t>
            </a:r>
            <a:r>
              <a:rPr sz="1600" dirty="0" err="1"/>
              <a:t>sérios</a:t>
            </a:r>
            <a:r>
              <a:rPr sz="1600" dirty="0"/>
              <a:t>.</a:t>
            </a:r>
            <a:endParaRPr lang="pt-BR" sz="1600"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endParaRPr lang="pt-BR" sz="1600"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lang="pt-BR" sz="1600" dirty="0"/>
              <a:t>Ganha benefícios e ajuda pra acertar eventos- ganha mais informação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1224518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EFAC"/>
                </a:solidFill>
              </a:defRPr>
            </a:pPr>
            <a:r>
              <a:rPr dirty="0"/>
              <a:t>Modelo de </a:t>
            </a:r>
            <a:r>
              <a:rPr dirty="0" err="1"/>
              <a:t>Receita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3731222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rPr sz="1600" dirty="0"/>
              <a:t>• R$ 10/</a:t>
            </a:r>
            <a:r>
              <a:rPr sz="1600" dirty="0" err="1"/>
              <a:t>mês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participante</a:t>
            </a:r>
            <a:r>
              <a:rPr sz="1600" dirty="0"/>
              <a:t> do concurso </a:t>
            </a:r>
            <a:r>
              <a:rPr sz="1600" dirty="0" err="1"/>
              <a:t>pago</a:t>
            </a:r>
            <a:endParaRPr sz="1600"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Assinatura</a:t>
            </a:r>
            <a:r>
              <a:rPr sz="1600" dirty="0"/>
              <a:t> </a:t>
            </a:r>
            <a:r>
              <a:rPr sz="1600" dirty="0" err="1"/>
              <a:t>Zafe</a:t>
            </a:r>
            <a:r>
              <a:rPr sz="1600" dirty="0"/>
              <a:t> Premium (features </a:t>
            </a:r>
            <a:r>
              <a:rPr sz="1600" dirty="0" err="1"/>
              <a:t>exclusivas</a:t>
            </a:r>
            <a:r>
              <a:rPr sz="1600" dirty="0"/>
              <a:t>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Patrocínios</a:t>
            </a:r>
            <a:r>
              <a:rPr sz="1600" dirty="0"/>
              <a:t> </a:t>
            </a:r>
            <a:r>
              <a:rPr sz="1600" dirty="0" err="1"/>
              <a:t>corporativos</a:t>
            </a:r>
            <a:r>
              <a:rPr sz="1600" dirty="0"/>
              <a:t> </a:t>
            </a:r>
            <a:r>
              <a:rPr sz="1600" dirty="0" err="1"/>
              <a:t>nos</a:t>
            </a:r>
            <a:r>
              <a:rPr sz="1600" dirty="0"/>
              <a:t> concursos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54880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AB308"/>
                </a:solidFill>
              </a:defRPr>
            </a:pPr>
            <a:r>
              <a:rPr sz="1600" dirty="0"/>
              <a:t>Fase </a:t>
            </a:r>
            <a:r>
              <a:rPr sz="1600" dirty="0" err="1"/>
              <a:t>atual</a:t>
            </a:r>
            <a:r>
              <a:rPr sz="1600" dirty="0"/>
              <a:t>: 100% </a:t>
            </a:r>
            <a:r>
              <a:rPr sz="1600" dirty="0" err="1"/>
              <a:t>gratuita</a:t>
            </a:r>
            <a:r>
              <a:rPr sz="1600" dirty="0"/>
              <a:t>. </a:t>
            </a:r>
            <a:r>
              <a:rPr sz="1600" dirty="0" err="1"/>
              <a:t>Monetização</a:t>
            </a:r>
            <a:r>
              <a:rPr sz="1600" dirty="0"/>
              <a:t> </a:t>
            </a:r>
            <a:r>
              <a:rPr sz="1600" dirty="0" err="1"/>
              <a:t>só</a:t>
            </a:r>
            <a:r>
              <a:rPr sz="1600" dirty="0"/>
              <a:t> </a:t>
            </a:r>
            <a:r>
              <a:rPr sz="1600" dirty="0" err="1"/>
              <a:t>após</a:t>
            </a:r>
            <a:r>
              <a:rPr sz="1600" dirty="0"/>
              <a:t> </a:t>
            </a:r>
            <a:r>
              <a:rPr sz="1600" dirty="0" err="1"/>
              <a:t>atingir</a:t>
            </a:r>
            <a:r>
              <a:rPr sz="1600" dirty="0"/>
              <a:t> </a:t>
            </a:r>
            <a:r>
              <a:rPr sz="1600" dirty="0" err="1"/>
              <a:t>massa</a:t>
            </a:r>
            <a:r>
              <a:rPr sz="1600" dirty="0"/>
              <a:t> </a:t>
            </a:r>
            <a:r>
              <a:rPr sz="1600" dirty="0" err="1"/>
              <a:t>crítica</a:t>
            </a:r>
            <a:r>
              <a:rPr sz="1600" dirty="0"/>
              <a:t> de </a:t>
            </a:r>
            <a:r>
              <a:rPr sz="1600" dirty="0" err="1"/>
              <a:t>usuários</a:t>
            </a:r>
            <a:r>
              <a:rPr sz="1600" dirty="0"/>
              <a:t> e </a:t>
            </a:r>
            <a:r>
              <a:rPr sz="1600" dirty="0" err="1"/>
              <a:t>validar</a:t>
            </a:r>
            <a:r>
              <a:rPr sz="1600" dirty="0"/>
              <a:t> </a:t>
            </a:r>
            <a:r>
              <a:rPr sz="1600" dirty="0" err="1"/>
              <a:t>engajamento</a:t>
            </a:r>
            <a:r>
              <a:rPr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9991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t>Curto Prazo (1-3 meses)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Estruturação Jurídica e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Criar CNPJ: Constituir empresa formalmente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Comprar Domínio: zafe.com.br (migração de zafe-rho.vercel.app)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Email Corporativo: @zafe.com.br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Conta Bancária PJ: Receber assinaturas e pagar prêmios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6EFAC"/>
                </a:solidFill>
              </a:defRPr>
            </a:pPr>
            <a:r>
              <a:t>Marketing e Lançamento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• Criar Redes Sociais: Instagram, Twitter, TikTok, LinkedIn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Campanha de Advertising: Ads 18-35 anos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Lançar Oficialmente: Rebrand Zafes para Zafe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Alcançar 1.000 usuários: Tração orgânica + paga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App Mobile PWA: Notificações nativas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6EFAC"/>
                </a:solidFill>
              </a:defRPr>
            </a:pPr>
            <a:r>
              <a:t>Roadmap: Médio e Longo Prazo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EFAC"/>
                </a:solidFill>
              </a:defRPr>
            </a:pPr>
            <a:r>
              <a:t>Médio Prazo (3-6 meses)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• Zafe Premium (R$ 19,90/mês)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Parcerias de patrocínio corporativo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Concurso Trimestral R$ 25k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Gamificação (badges, níveis, streaks)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Recursos sociais (seguir previsores)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EFAC"/>
                </a:solidFill>
              </a:defRPr>
            </a:pPr>
            <a:r>
              <a:t>Longo Prazo (6-12 meses)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774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• Troca de Zafes: 10.000 Z$ = 10% desconto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Zafes viram moeda de fidelidade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Converter Z$ em descontos reais (parcerias)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Venda de dados B2B (sabedoria das multidões)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Premium escalado nacionalmente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EFAC"/>
                </a:solidFill>
              </a:defRPr>
            </a:pPr>
            <a:r>
              <a:t>Visão de Expansão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774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• Consolidação da marca nacionalmente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Liderança em liga de previsões no Brasil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Parcerias com varejistas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Expansão para 100k+ usuários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86EFAC"/>
                </a:solidFill>
              </a:defRPr>
            </a:pPr>
            <a:r>
              <a:t>ZAFE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O Fantasy Game de Previsões do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• 100% Legal (Lei 5.768/71 + CMN 5.298)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• Sem apostas, sem depósitos de dinheiro real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• Prêmios reais no concurso mensal via PIX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• Tecnologia de ponta (4 camadas de resolução)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• Z$: moeda virtual sem valor monetário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6EFAC"/>
                </a:solidFill>
              </a:defRPr>
            </a:pPr>
            <a:r>
              <a:t>Zafe: A liga onde você compete prevendo o que vai acontecer.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zafe-rho.vercel.app → em breve zafe.com.br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C8C8"/>
                </a:solidFill>
              </a:defRPr>
            </a:pPr>
            <a:r>
              <a:t>FEITO POR LUC SAPOZNIK E LORENZO FRAGALI</a:t>
            </a:r>
          </a:p>
        </p:txBody>
      </p:sp>
    </p:spTree>
    <p:extLst>
      <p:ext uri="{BB962C8B-B14F-4D97-AF65-F5344CB8AC3E}">
        <p14:creationId xmlns:p14="http://schemas.microsoft.com/office/powerpoint/2010/main" val="183267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766D2C-7749-A643-A423-E1A90DF3D1F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98ae5f5-3c5b-4394-8bd2-631cafcee4b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1982</Words>
  <Application>Microsoft Macintosh PowerPoint</Application>
  <PresentationFormat>Widescreen</PresentationFormat>
  <Paragraphs>175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 Sapoznik [Pupil]</cp:lastModifiedBy>
  <cp:revision>3</cp:revision>
  <dcterms:created xsi:type="dcterms:W3CDTF">2013-01-27T09:14:16Z</dcterms:created>
  <dcterms:modified xsi:type="dcterms:W3CDTF">2026-05-07T23:33:03Z</dcterms:modified>
  <cp:category/>
</cp:coreProperties>
</file>